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We must recognize the fundamental shift: security failures now directly threaten continuity, shareholder value, and market position. This is an existential business problem requiring executive ownership. Our mandate is to redefine performance, moving beyond simple prevention metrics to focus on assured business resilience and rapid recovery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Achieving resilience demands immediate architectural change. Zero Trust is critical to minimize risk, especially in multi-cloud environments. Crucially, we must move beyond technical metrics. Executives need financial quantification of risk. Our target is to utilize automation to cut our Mean Time to Respond (MTTR) by 40%, significantly enhancing our threat resolution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Resilience is not a cost center; it is a measurable competitive advantage and a quantifiable investment. Studies consistently show a strong 4-to-1 return compared to reactive cleanup costs. We need your decisive commitment now. Approve this budget and strategy immediately to ensure Q1 implementation timelines are met, securing our platform for future growth and market trust.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Presentation</a:t>
            </a:r>
          </a:p>
        </p:txBody>
      </p:sp>
      <p:sp>
        <p:nvSpPr>
          <p:cNvPr id="3" name="Subtitle 2"/>
          <p:cNvSpPr>
            <a:spLocks noGrp="1"/>
          </p:cNvSpPr>
          <p:nvPr>
            <p:ph type="subTitle" idx="1"/>
          </p:nvPr>
        </p:nvSpPr>
        <p:spPr/>
        <p:txBody>
          <a:bodyPr/>
          <a:lstStyle/>
          <a:p>
            <a:r>
              <a:t>Generated by Agentic 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57200"/>
            <a:ext cx="8229600" cy="914400"/>
          </a:xfrm>
        </p:spPr>
        <p:txBody>
          <a:bodyPr/>
          <a:lstStyle/>
          <a:p>
            <a:pPr>
              <a:defRPr sz="3200" b="1"/>
            </a:pPr>
            <a:r>
              <a:t>Security is Business Continuity: Our Executive Mandate for Resilience</a:t>
            </a:r>
          </a:p>
        </p:txBody>
      </p:sp>
      <p:sp>
        <p:nvSpPr>
          <p:cNvPr id="3" name="Content Placeholder 2"/>
          <p:cNvSpPr>
            <a:spLocks noGrp="1"/>
          </p:cNvSpPr>
          <p:nvPr>
            <p:ph idx="1"/>
          </p:nvPr>
        </p:nvSpPr>
        <p:spPr>
          <a:xfrm>
            <a:off x="0" y="1645920"/>
            <a:ext cx="7772400" cy="4572000"/>
          </a:xfrm>
        </p:spPr>
        <p:txBody>
          <a:bodyPr wrap="square"/>
          <a:lstStyle/>
          <a:p/>
          <a:p>
            <a:pPr>
              <a:defRPr sz="1800"/>
            </a:pPr>
            <a:r>
              <a:t>The evolving threat landscape represents an existential business risk, not an IT issue.</a:t>
            </a:r>
          </a:p>
          <a:p>
            <a:pPr>
              <a:defRPr sz="1800"/>
            </a:pPr>
            <a:r>
              <a:t>Rapid digital expansion has critically expanded our attack surface and vulnerability profile.</a:t>
            </a:r>
          </a:p>
          <a:p>
            <a:pPr>
              <a:defRPr sz="1800"/>
            </a:pPr>
            <a:r>
              <a:t>Success metric shift: Evaluate security performance by assured business resilience and recovery speed, not just prevention rates.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57200"/>
            <a:ext cx="8229600" cy="914400"/>
          </a:xfrm>
        </p:spPr>
        <p:txBody>
          <a:bodyPr/>
          <a:lstStyle/>
          <a:p>
            <a:pPr>
              <a:defRPr sz="3200" b="1"/>
            </a:pPr>
            <a:r>
              <a:t>Foundational Strategy: Implementing Integrated Resilience for Assured Continuity</a:t>
            </a:r>
          </a:p>
        </p:txBody>
      </p:sp>
      <p:sp>
        <p:nvSpPr>
          <p:cNvPr id="3" name="Content Placeholder 2"/>
          <p:cNvSpPr>
            <a:spLocks noGrp="1"/>
          </p:cNvSpPr>
          <p:nvPr>
            <p:ph idx="1"/>
          </p:nvPr>
        </p:nvSpPr>
        <p:spPr>
          <a:xfrm>
            <a:off x="0" y="1645920"/>
            <a:ext cx="7772400" cy="4572000"/>
          </a:xfrm>
        </p:spPr>
        <p:txBody>
          <a:bodyPr wrap="square"/>
          <a:lstStyle/>
          <a:p/>
          <a:p>
            <a:pPr>
              <a:defRPr sz="1800"/>
            </a:pPr>
            <a:r>
              <a:t>Implement Zero Trust architecture across all foundational business segments to minimize lateral risk.</a:t>
            </a:r>
          </a:p>
          <a:p>
            <a:pPr>
              <a:defRPr sz="1800"/>
            </a:pPr>
            <a:r>
              <a:t>Elevate risk reporting: Quantify potential financial and reputational impact of security vulnerabilities.</a:t>
            </a:r>
          </a:p>
          <a:p>
            <a:pPr>
              <a:defRPr sz="1800"/>
            </a:pPr>
            <a:r>
              <a:t>Optimize Response Times (MTTR): Consolidate security operations with automation to accelerate threat resolution.</a:t>
            </a:r>
          </a:p>
          <a:p>
            <a:pPr>
              <a:defRPr sz="1800"/>
            </a:pPr>
            <a:r>
              <a:t>Integrate compliance frameworks directly into active security architecture for proactive governance.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57200"/>
            <a:ext cx="8229600" cy="914400"/>
          </a:xfrm>
        </p:spPr>
        <p:txBody>
          <a:bodyPr/>
          <a:lstStyle/>
          <a:p>
            <a:pPr>
              <a:defRPr sz="3200" b="1"/>
            </a:pPr>
            <a:r>
              <a:t>Decisive Action Required: Securing Our Future Growth</a:t>
            </a:r>
          </a:p>
        </p:txBody>
      </p:sp>
      <p:sp>
        <p:nvSpPr>
          <p:cNvPr id="3" name="Content Placeholder 2"/>
          <p:cNvSpPr>
            <a:spLocks noGrp="1"/>
          </p:cNvSpPr>
          <p:nvPr>
            <p:ph idx="1"/>
          </p:nvPr>
        </p:nvSpPr>
        <p:spPr>
          <a:xfrm>
            <a:off x="0" y="1645920"/>
            <a:ext cx="7772400" cy="4572000"/>
          </a:xfrm>
        </p:spPr>
        <p:txBody>
          <a:bodyPr wrap="square"/>
          <a:lstStyle/>
          <a:p/>
          <a:p>
            <a:pPr>
              <a:defRPr sz="1800"/>
            </a:pPr>
            <a:r>
              <a:t>Immediate allocation of capital for unified security platforms and targeted talent acquisition.</a:t>
            </a:r>
          </a:p>
          <a:p>
            <a:pPr>
              <a:defRPr sz="1800"/>
            </a:pPr>
            <a:r>
              <a:t>Financial ROI: Every $1 invested in resilience proactively saves an estimated $4 in post-breach costs and downtime.</a:t>
            </a:r>
          </a:p>
          <a:p>
            <a:pPr>
              <a:defRPr sz="1800"/>
            </a:pPr>
            <a:r>
              <a:t>Mandate security as a primary competitive differentiator and non-negotiable executive priority.</a:t>
            </a:r>
          </a:p>
          <a:p>
            <a:pPr>
              <a:defRPr sz="1800"/>
            </a:pPr>
            <a:r>
              <a:t>Approval requested: Authorize the integrated resilience strategy and release Q1 budget allocation today.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