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must recognize that Agentic AI is fundamentally different from the LLMs we currently utilize. These systems possess the full stack of capabilities—planning, memory, and self-correction—allowing them to handle multi-step, high-complexity business processes without human intervention. This shift moves us from merely understanding data to autonomously executing strategic operations, driving immediate efficiency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maximum executive impact, we must deploy agents where they yield quantifiable ROI quickly. The back-office—finance, HR, supply chain—presents low-risk, high-volume opportunities for efficiency gains exceeding 20%. Simultaneously, agents transform customer engagement by executing complex, personalized sales funnels. We recommend prioritizing areas where data quality is robust and initial failure risk is manageable.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Autonomous operations require rigorous governance. Our phased adoption strategy begins with low-criticality proofs of concept to gather metrics and build organizational trust before scaling. Crucially, critical functions must retain a Human-In-The-Loop failsafe and mandatory audit trails. We must immediately formalize MLOps standards specifically tailored for agent orchestration to secure against risks like prompt injection and system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AI is not merely an incremental technology update; it is a profound transformation of operating models that will define market leadership over the next five years. My recommendation is clear and time-sensitive: approve a focused 90-day pilot program targeting one core back-office function, and, critically, allocate executive sponsorship to establish the formal governance framework required to scale securely. We must move quickly. I am now open for strategic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Securing Autonomous Operations: The Enterprise Agentic AI Mandate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0" cy="1371600"/>
          </a:xfrm>
        </p:spPr>
        <p:txBody>
          <a:bodyPr/>
          <a:lstStyle/>
          <a:p>
            <a:pPr>
              <a:defRPr sz="3200" b="1"/>
            </a:pPr>
            <a:r>
              <a:t>The Strategic Shift: From Tools to Autonomous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45720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Agents execute complex planning, memory, and self-correction cycles.</a:t>
            </a:r>
          </a:p>
          <a:p>
            <a:pPr>
              <a:defRPr sz="1800"/>
            </a:pPr>
            <a:r>
              <a:t>Transition from reactive tools (LLMs) to proactive decision-making engines.</a:t>
            </a:r>
          </a:p>
          <a:p>
            <a:pPr>
              <a:defRPr sz="1800"/>
            </a:pPr>
            <a:r>
              <a:t>Instantly solve multi-step, high-complexity business bottlenecks.</a:t>
            </a:r>
          </a:p>
          <a:p>
            <a:pPr>
              <a:defRPr sz="1800"/>
            </a:pPr>
            <a:r>
              <a:t>Dramatically reduce operational latency and ensure quality consistency at scale.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0" cy="1371600"/>
          </a:xfrm>
        </p:spPr>
        <p:txBody>
          <a:bodyPr/>
          <a:lstStyle/>
          <a:p>
            <a:pPr>
              <a:defRPr sz="3200" b="1"/>
            </a:pPr>
            <a:r>
              <a:t>Prioritizing Deployment: Targeting 20%+ Efficiency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45720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Back-Office Logistics: Optimize high-volume tasks (Finance, HR, Supply Chain) targeting 20%+ efficiency gain.</a:t>
            </a:r>
          </a:p>
          <a:p>
            <a:pPr>
              <a:defRPr sz="1800"/>
            </a:pPr>
            <a:r>
              <a:t>Customer Experience (CX): Tailor customer journeys and execute complex fulfillment chains autonomously.</a:t>
            </a:r>
          </a:p>
          <a:p>
            <a:pPr>
              <a:defRPr sz="1800"/>
            </a:pPr>
            <a:r>
              <a:t>R&amp;D Acceleration: Synthesize proprietary data and run complex simulations to compress innovation cycles.</a:t>
            </a:r>
          </a:p>
          <a:p>
            <a:pPr>
              <a:defRPr sz="1800"/>
            </a:pPr>
            <a:r>
              <a:t>Principle: Focus deployment in high-data-quality, manageable-risk environments for rapid proof points.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0" cy="1371600"/>
          </a:xfrm>
        </p:spPr>
        <p:txBody>
          <a:bodyPr/>
          <a:lstStyle/>
          <a:p>
            <a:pPr>
              <a:defRPr sz="3200" b="1"/>
            </a:pPr>
            <a:r>
              <a:t>Governance and Security: Enabling Trusted Autonomy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45720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Phased Adoption: Start with low-criticality Proofs of Concept (POCs) to rapidly build organizational trust and metrics.</a:t>
            </a:r>
          </a:p>
          <a:p>
            <a:pPr>
              <a:defRPr sz="1800"/>
            </a:pPr>
            <a:r>
              <a:t>Human-In-The-Loop (HITL): Mandate critical oversight and mandatory audit trails for all high-stakes agent actions.</a:t>
            </a:r>
          </a:p>
          <a:p>
            <a:pPr>
              <a:defRPr sz="1800"/>
            </a:pPr>
            <a:r>
              <a:t>MLOps Tooling: Prioritize MLOps standards for robust orchestration, failure recovery, and version control.</a:t>
            </a:r>
          </a:p>
          <a:p>
            <a:pPr>
              <a:defRPr sz="1800"/>
            </a:pPr>
            <a:r>
              <a:t>Risk Mitigation: Proactively address ethical drift, hallucination, and prompt injection risks before scaling.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0" cy="1371600"/>
          </a:xfrm>
        </p:spPr>
        <p:txBody>
          <a:bodyPr/>
          <a:lstStyle/>
          <a:p>
            <a:pPr>
              <a:defRPr sz="3200" b="1"/>
            </a:pPr>
            <a:r>
              <a:t>Immediate Action: Securing First-Mover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45720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Agentic AI represents a fundamental operating model transformation, requiring decisive action.</a:t>
            </a:r>
          </a:p>
          <a:p>
            <a:pPr>
              <a:defRPr sz="1800"/>
            </a:pPr>
            <a:r>
              <a:t>Recommendation 1: Initiate a focused, 90-day Agentic AI pilot program immediately.</a:t>
            </a:r>
          </a:p>
          <a:p>
            <a:pPr>
              <a:defRPr sz="1800"/>
            </a:pPr>
            <a:r>
              <a:t>Recommendation 2: Formalize the Governance and Security Committee with dedicated executive sponsorship.</a:t>
            </a:r>
          </a:p>
          <a:p>
            <a:pPr>
              <a:defRPr sz="1800"/>
            </a:pPr>
            <a:r>
              <a:t>Let's discuss securing your position as an early market leader now.</a:t>
            </a:r>
          </a:p>
        </p:txBody>
      </p:sp>
      <p:pic>
        <p:nvPicPr>
          <p:cNvPr id="4" name="Picture 3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